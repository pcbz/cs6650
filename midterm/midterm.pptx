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5" r:id="rId9"/>
    <p:sldId id="263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>
        <p:scale>
          <a:sx n="87" d="100"/>
          <a:sy n="87" d="100"/>
        </p:scale>
        <p:origin x="1728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6C8D1C-1288-4D37-992E-00C184D10A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4A992F-9C98-454D-85F9-2342AA784EB6}">
      <dgm:prSet/>
      <dgm:spPr/>
      <dgm:t>
        <a:bodyPr/>
        <a:lstStyle/>
        <a:p>
          <a:r>
            <a:rPr lang="en-US"/>
            <a:t>CAP Theorem Explains Master-Slave Read Inconsistency</a:t>
          </a:r>
        </a:p>
      </dgm:t>
    </dgm:pt>
    <dgm:pt modelId="{4DFB0B43-ADE1-4338-BA28-CFD230FB6DAA}" type="parTrans" cxnId="{1408356A-90A3-4A99-ABB5-063BA0926159}">
      <dgm:prSet/>
      <dgm:spPr/>
      <dgm:t>
        <a:bodyPr/>
        <a:lstStyle/>
        <a:p>
          <a:endParaRPr lang="en-US"/>
        </a:p>
      </dgm:t>
    </dgm:pt>
    <dgm:pt modelId="{718859DD-B5B1-4AB5-9AE5-A5257FCBDCCE}" type="sibTrans" cxnId="{1408356A-90A3-4A99-ABB5-063BA0926159}">
      <dgm:prSet/>
      <dgm:spPr/>
      <dgm:t>
        <a:bodyPr/>
        <a:lstStyle/>
        <a:p>
          <a:endParaRPr lang="en-US"/>
        </a:p>
      </dgm:t>
    </dgm:pt>
    <dgm:pt modelId="{979D16C4-1DE2-4604-9A90-07506E4ADDC1}">
      <dgm:prSet/>
      <dgm:spPr/>
      <dgm:t>
        <a:bodyPr/>
        <a:lstStyle/>
        <a:p>
          <a:r>
            <a:rPr lang="en-US"/>
            <a:t>MapReduce: From Paper to Practice</a:t>
          </a:r>
        </a:p>
      </dgm:t>
    </dgm:pt>
    <dgm:pt modelId="{769A9BB4-FD52-437D-BA10-F2075F2761ED}" type="parTrans" cxnId="{009B4F23-ABA0-4289-8542-21389FDA15EE}">
      <dgm:prSet/>
      <dgm:spPr/>
      <dgm:t>
        <a:bodyPr/>
        <a:lstStyle/>
        <a:p>
          <a:endParaRPr lang="en-US"/>
        </a:p>
      </dgm:t>
    </dgm:pt>
    <dgm:pt modelId="{00B86F19-DD06-4F4B-8B2B-B96081138609}" type="sibTrans" cxnId="{009B4F23-ABA0-4289-8542-21389FDA15EE}">
      <dgm:prSet/>
      <dgm:spPr/>
      <dgm:t>
        <a:bodyPr/>
        <a:lstStyle/>
        <a:p>
          <a:endParaRPr lang="en-US"/>
        </a:p>
      </dgm:t>
    </dgm:pt>
    <dgm:pt modelId="{E6B0250A-85DC-44B6-BFBC-DF6CB279FC04}">
      <dgm:prSet/>
      <dgm:spPr/>
      <dgm:t>
        <a:bodyPr/>
        <a:lstStyle/>
        <a:p>
          <a:r>
            <a:rPr lang="en-US"/>
            <a:t>Auto-Scaling in Product-API</a:t>
          </a:r>
        </a:p>
      </dgm:t>
    </dgm:pt>
    <dgm:pt modelId="{7CA9A33A-F38B-4C2E-9547-D755388D51A5}" type="parTrans" cxnId="{B0B999D9-2946-4B0C-9332-4C7B86C634F4}">
      <dgm:prSet/>
      <dgm:spPr/>
      <dgm:t>
        <a:bodyPr/>
        <a:lstStyle/>
        <a:p>
          <a:endParaRPr lang="en-US"/>
        </a:p>
      </dgm:t>
    </dgm:pt>
    <dgm:pt modelId="{FB55D11B-EB84-40EA-BDF1-39EDC8F97A76}" type="sibTrans" cxnId="{B0B999D9-2946-4B0C-9332-4C7B86C634F4}">
      <dgm:prSet/>
      <dgm:spPr/>
      <dgm:t>
        <a:bodyPr/>
        <a:lstStyle/>
        <a:p>
          <a:endParaRPr lang="en-US"/>
        </a:p>
      </dgm:t>
    </dgm:pt>
    <dgm:pt modelId="{E0649805-15FA-7547-8F01-DCC7729B0970}" type="pres">
      <dgm:prSet presAssocID="{AF6C8D1C-1288-4D37-992E-00C184D10A19}" presName="linear" presStyleCnt="0">
        <dgm:presLayoutVars>
          <dgm:animLvl val="lvl"/>
          <dgm:resizeHandles val="exact"/>
        </dgm:presLayoutVars>
      </dgm:prSet>
      <dgm:spPr/>
    </dgm:pt>
    <dgm:pt modelId="{43A690C8-B59A-4B44-81D0-3425972E2A73}" type="pres">
      <dgm:prSet presAssocID="{054A992F-9C98-454D-85F9-2342AA784E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E822C1A-1293-9449-ACD9-DA8400D45F97}" type="pres">
      <dgm:prSet presAssocID="{718859DD-B5B1-4AB5-9AE5-A5257FCBDCCE}" presName="spacer" presStyleCnt="0"/>
      <dgm:spPr/>
    </dgm:pt>
    <dgm:pt modelId="{530920CA-42B8-EE4A-A766-FF3E0B03FC9D}" type="pres">
      <dgm:prSet presAssocID="{979D16C4-1DE2-4604-9A90-07506E4ADDC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BB648FC-69A5-FC4B-8397-E6EBBDA24CB6}" type="pres">
      <dgm:prSet presAssocID="{00B86F19-DD06-4F4B-8B2B-B96081138609}" presName="spacer" presStyleCnt="0"/>
      <dgm:spPr/>
    </dgm:pt>
    <dgm:pt modelId="{786BF35A-C638-5349-B2A1-3B68F8D925A2}" type="pres">
      <dgm:prSet presAssocID="{E6B0250A-85DC-44B6-BFBC-DF6CB279FC0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09B4F23-ABA0-4289-8542-21389FDA15EE}" srcId="{AF6C8D1C-1288-4D37-992E-00C184D10A19}" destId="{979D16C4-1DE2-4604-9A90-07506E4ADDC1}" srcOrd="1" destOrd="0" parTransId="{769A9BB4-FD52-437D-BA10-F2075F2761ED}" sibTransId="{00B86F19-DD06-4F4B-8B2B-B96081138609}"/>
    <dgm:cxn modelId="{1408356A-90A3-4A99-ABB5-063BA0926159}" srcId="{AF6C8D1C-1288-4D37-992E-00C184D10A19}" destId="{054A992F-9C98-454D-85F9-2342AA784EB6}" srcOrd="0" destOrd="0" parTransId="{4DFB0B43-ADE1-4338-BA28-CFD230FB6DAA}" sibTransId="{718859DD-B5B1-4AB5-9AE5-A5257FCBDCCE}"/>
    <dgm:cxn modelId="{F4947981-ACDF-AD49-930E-A8B1F2ADBF80}" type="presOf" srcId="{AF6C8D1C-1288-4D37-992E-00C184D10A19}" destId="{E0649805-15FA-7547-8F01-DCC7729B0970}" srcOrd="0" destOrd="0" presId="urn:microsoft.com/office/officeart/2005/8/layout/vList2"/>
    <dgm:cxn modelId="{9F1F62AF-AA7F-7C41-AE0A-EB256F1E9CAE}" type="presOf" srcId="{979D16C4-1DE2-4604-9A90-07506E4ADDC1}" destId="{530920CA-42B8-EE4A-A766-FF3E0B03FC9D}" srcOrd="0" destOrd="0" presId="urn:microsoft.com/office/officeart/2005/8/layout/vList2"/>
    <dgm:cxn modelId="{BD0D57B5-EC53-454E-9EAC-A153FC3E2D29}" type="presOf" srcId="{054A992F-9C98-454D-85F9-2342AA784EB6}" destId="{43A690C8-B59A-4B44-81D0-3425972E2A73}" srcOrd="0" destOrd="0" presId="urn:microsoft.com/office/officeart/2005/8/layout/vList2"/>
    <dgm:cxn modelId="{36923DB8-2468-8F42-87FF-C587BB86AD7D}" type="presOf" srcId="{E6B0250A-85DC-44B6-BFBC-DF6CB279FC04}" destId="{786BF35A-C638-5349-B2A1-3B68F8D925A2}" srcOrd="0" destOrd="0" presId="urn:microsoft.com/office/officeart/2005/8/layout/vList2"/>
    <dgm:cxn modelId="{B0B999D9-2946-4B0C-9332-4C7B86C634F4}" srcId="{AF6C8D1C-1288-4D37-992E-00C184D10A19}" destId="{E6B0250A-85DC-44B6-BFBC-DF6CB279FC04}" srcOrd="2" destOrd="0" parTransId="{7CA9A33A-F38B-4C2E-9547-D755388D51A5}" sibTransId="{FB55D11B-EB84-40EA-BDF1-39EDC8F97A76}"/>
    <dgm:cxn modelId="{EE87F887-4DB5-0942-814B-70035C208186}" type="presParOf" srcId="{E0649805-15FA-7547-8F01-DCC7729B0970}" destId="{43A690C8-B59A-4B44-81D0-3425972E2A73}" srcOrd="0" destOrd="0" presId="urn:microsoft.com/office/officeart/2005/8/layout/vList2"/>
    <dgm:cxn modelId="{5A6CF55E-5FF9-954E-8DA1-92A8B5958B30}" type="presParOf" srcId="{E0649805-15FA-7547-8F01-DCC7729B0970}" destId="{7E822C1A-1293-9449-ACD9-DA8400D45F97}" srcOrd="1" destOrd="0" presId="urn:microsoft.com/office/officeart/2005/8/layout/vList2"/>
    <dgm:cxn modelId="{BF0C5C5E-A34F-F047-BA74-1EC61D607DD8}" type="presParOf" srcId="{E0649805-15FA-7547-8F01-DCC7729B0970}" destId="{530920CA-42B8-EE4A-A766-FF3E0B03FC9D}" srcOrd="2" destOrd="0" presId="urn:microsoft.com/office/officeart/2005/8/layout/vList2"/>
    <dgm:cxn modelId="{07E0580C-4925-EC49-A480-98B0B0029705}" type="presParOf" srcId="{E0649805-15FA-7547-8F01-DCC7729B0970}" destId="{0BB648FC-69A5-FC4B-8397-E6EBBDA24CB6}" srcOrd="3" destOrd="0" presId="urn:microsoft.com/office/officeart/2005/8/layout/vList2"/>
    <dgm:cxn modelId="{1E5A6269-FE33-1047-AB89-795AA9CE94C9}" type="presParOf" srcId="{E0649805-15FA-7547-8F01-DCC7729B0970}" destId="{786BF35A-C638-5349-B2A1-3B68F8D925A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A690C8-B59A-4B44-81D0-3425972E2A73}">
      <dsp:nvSpPr>
        <dsp:cNvPr id="0" name=""/>
        <dsp:cNvSpPr/>
      </dsp:nvSpPr>
      <dsp:spPr>
        <a:xfrm>
          <a:off x="0" y="616607"/>
          <a:ext cx="106912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CAP Theorem Explains Master-Slave Read Inconsistency</a:t>
          </a:r>
        </a:p>
      </dsp:txBody>
      <dsp:txXfrm>
        <a:off x="37696" y="654303"/>
        <a:ext cx="10615873" cy="696808"/>
      </dsp:txXfrm>
    </dsp:sp>
    <dsp:sp modelId="{530920CA-42B8-EE4A-A766-FF3E0B03FC9D}">
      <dsp:nvSpPr>
        <dsp:cNvPr id="0" name=""/>
        <dsp:cNvSpPr/>
      </dsp:nvSpPr>
      <dsp:spPr>
        <a:xfrm>
          <a:off x="0" y="1483847"/>
          <a:ext cx="106912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MapReduce: From Paper to Practice</a:t>
          </a:r>
        </a:p>
      </dsp:txBody>
      <dsp:txXfrm>
        <a:off x="37696" y="1521543"/>
        <a:ext cx="10615873" cy="696808"/>
      </dsp:txXfrm>
    </dsp:sp>
    <dsp:sp modelId="{786BF35A-C638-5349-B2A1-3B68F8D925A2}">
      <dsp:nvSpPr>
        <dsp:cNvPr id="0" name=""/>
        <dsp:cNvSpPr/>
      </dsp:nvSpPr>
      <dsp:spPr>
        <a:xfrm>
          <a:off x="0" y="2351087"/>
          <a:ext cx="10691265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Auto-Scaling in Product-API</a:t>
          </a:r>
        </a:p>
      </dsp:txBody>
      <dsp:txXfrm>
        <a:off x="37696" y="2388783"/>
        <a:ext cx="10615873" cy="696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3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90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2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5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5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7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4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4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8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0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0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3A5767-793B-3683-89D7-3218002D9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dirty="0"/>
              <a:t>Midterm Mastery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CB7EF-BB9C-E1C0-5E1C-E8AF27412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F7AD87-CB55-437B-A00C-BD137E00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8" r="2370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20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DB66-69DE-8FA0-86B7-077ECA2E1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have enjoyed learning so far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F40E17-400A-2B0F-E7A4-FCF9F7A1E7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311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9357-6311-696E-C62B-CC6DB3B7B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CAP theorem explains master-slave inconsistency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0C8591-08B4-FAD3-20DA-39D075FD28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6267" y="2221992"/>
            <a:ext cx="4709319" cy="3458712"/>
          </a:xfrm>
        </p:spPr>
      </p:pic>
      <p:pic>
        <p:nvPicPr>
          <p:cNvPr id="1026" name="Picture 2" descr="CAP theorem">
            <a:extLst>
              <a:ext uri="{FF2B5EF4-FFF2-40B4-BE49-F238E27FC236}">
                <a16:creationId xmlns:a16="http://schemas.microsoft.com/office/drawing/2014/main" id="{AC36B134-0898-ADB5-A454-36151B8F7DA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681" y="2301875"/>
            <a:ext cx="38481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05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BE6F8-8F6B-5629-CD6A-E2A9DDB2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dirty="0" err="1"/>
              <a:t>Mapreduce</a:t>
            </a:r>
            <a:r>
              <a:rPr lang="en-US" sz="3300" dirty="0"/>
              <a:t>: from paper to practice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79CFE-B51C-C50B-4DE5-5890D7299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MapReduce = Simple Abstraction + Powerful Framework</a:t>
            </a:r>
          </a:p>
          <a:p>
            <a:r>
              <a:rPr lang="en-US" dirty="0"/>
              <a:t>Map: Transform data in parallel</a:t>
            </a:r>
          </a:p>
          <a:p>
            <a:r>
              <a:rPr lang="en-US" dirty="0"/>
              <a:t>Reduce: Aggregate results</a:t>
            </a:r>
          </a:p>
          <a:p>
            <a:r>
              <a:rPr lang="en-US" dirty="0"/>
              <a:t>Framework: Handles failures, scheduling,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21A9AA-6BFC-6F1C-BD84-CCB4B3C178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5848" r="13260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4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047-3C8E-2C7C-BC3E-87121E390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Mapreduce</a:t>
            </a:r>
            <a:r>
              <a:rPr lang="en-US" dirty="0"/>
              <a:t>: from paper to practice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9A4DE91-2665-4E70-AFE3-69AD22AEDE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71589" y="2146575"/>
            <a:ext cx="4226399" cy="3797025"/>
          </a:xfrm>
          <a:prstGeom prst="rect">
            <a:avLst/>
          </a:prstGeom>
        </p:spPr>
      </p:pic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5832CB-445A-7601-A6AE-26726A4B65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 bwMode="auto">
          <a:xfrm>
            <a:off x="704850" y="2711065"/>
            <a:ext cx="5211763" cy="276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30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82991-7AF3-F7A3-72F6-73173BC7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/>
              <a:t>Auto-Scaling implementation</a:t>
            </a:r>
            <a:br>
              <a:rPr lang="en-US" sz="3100"/>
            </a:br>
            <a:endParaRPr lang="en-US" sz="3100"/>
          </a:p>
        </p:txBody>
      </p:sp>
      <p:pic>
        <p:nvPicPr>
          <p:cNvPr id="11" name="Content Placeholder 10" descr="A diagram of a group&#10;&#10;AI-generated content may be incorrect.">
            <a:extLst>
              <a:ext uri="{FF2B5EF4-FFF2-40B4-BE49-F238E27FC236}">
                <a16:creationId xmlns:a16="http://schemas.microsoft.com/office/drawing/2014/main" id="{CE99893E-5F47-C6B7-0DEB-DF4A2EB520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9" r="10037"/>
          <a:stretch>
            <a:fillRect/>
          </a:stretch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14">
            <a:extLst>
              <a:ext uri="{FF2B5EF4-FFF2-40B4-BE49-F238E27FC236}">
                <a16:creationId xmlns:a16="http://schemas.microsoft.com/office/drawing/2014/main" id="{3F6B5594-D502-361E-4574-0FA2D1FBDA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4412849"/>
              </p:ext>
            </p:extLst>
          </p:nvPr>
        </p:nvGraphicFramePr>
        <p:xfrm>
          <a:off x="5346871" y="2221992"/>
          <a:ext cx="6315582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226">
                  <a:extLst>
                    <a:ext uri="{9D8B030D-6E8A-4147-A177-3AD203B41FA5}">
                      <a16:colId xmlns:a16="http://schemas.microsoft.com/office/drawing/2014/main" val="2193713277"/>
                    </a:ext>
                  </a:extLst>
                </a:gridCol>
                <a:gridCol w="902226">
                  <a:extLst>
                    <a:ext uri="{9D8B030D-6E8A-4147-A177-3AD203B41FA5}">
                      <a16:colId xmlns:a16="http://schemas.microsoft.com/office/drawing/2014/main" val="1490840101"/>
                    </a:ext>
                  </a:extLst>
                </a:gridCol>
                <a:gridCol w="902226">
                  <a:extLst>
                    <a:ext uri="{9D8B030D-6E8A-4147-A177-3AD203B41FA5}">
                      <a16:colId xmlns:a16="http://schemas.microsoft.com/office/drawing/2014/main" val="1313791755"/>
                    </a:ext>
                  </a:extLst>
                </a:gridCol>
                <a:gridCol w="902226">
                  <a:extLst>
                    <a:ext uri="{9D8B030D-6E8A-4147-A177-3AD203B41FA5}">
                      <a16:colId xmlns:a16="http://schemas.microsoft.com/office/drawing/2014/main" val="1121484556"/>
                    </a:ext>
                  </a:extLst>
                </a:gridCol>
                <a:gridCol w="902226">
                  <a:extLst>
                    <a:ext uri="{9D8B030D-6E8A-4147-A177-3AD203B41FA5}">
                      <a16:colId xmlns:a16="http://schemas.microsoft.com/office/drawing/2014/main" val="1468424030"/>
                    </a:ext>
                  </a:extLst>
                </a:gridCol>
                <a:gridCol w="902226">
                  <a:extLst>
                    <a:ext uri="{9D8B030D-6E8A-4147-A177-3AD203B41FA5}">
                      <a16:colId xmlns:a16="http://schemas.microsoft.com/office/drawing/2014/main" val="462450914"/>
                    </a:ext>
                  </a:extLst>
                </a:gridCol>
                <a:gridCol w="902226">
                  <a:extLst>
                    <a:ext uri="{9D8B030D-6E8A-4147-A177-3AD203B41FA5}">
                      <a16:colId xmlns:a16="http://schemas.microsoft.com/office/drawing/2014/main" val="440328266"/>
                    </a:ext>
                  </a:extLst>
                </a:gridCol>
              </a:tblGrid>
              <a:tr h="280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Users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Task Count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CPU Usage (%)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Memory Usage (%)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RPS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50% Response Time (</a:t>
                      </a:r>
                      <a:r>
                        <a:rPr lang="en-CA" sz="1200" dirty="0" err="1">
                          <a:effectLst/>
                        </a:rPr>
                        <a:t>ms</a:t>
                      </a:r>
                      <a:r>
                        <a:rPr lang="en-CA" sz="12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95% Response Time (</a:t>
                      </a:r>
                      <a:r>
                        <a:rPr lang="en-CA" sz="1200" dirty="0" err="1">
                          <a:effectLst/>
                        </a:rPr>
                        <a:t>ms</a:t>
                      </a:r>
                      <a:r>
                        <a:rPr lang="en-CA" sz="12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7663379"/>
                  </a:ext>
                </a:extLst>
              </a:tr>
              <a:tr h="27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N/A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N/A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N/A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66466267"/>
                  </a:ext>
                </a:extLst>
              </a:tr>
              <a:tr h="27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20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40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40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200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73425754"/>
                  </a:ext>
                </a:extLst>
              </a:tr>
              <a:tr h="27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40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70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14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17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70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440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54245382"/>
                  </a:ext>
                </a:extLst>
              </a:tr>
              <a:tr h="27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60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80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15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25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55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430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55565634"/>
                  </a:ext>
                </a:extLst>
              </a:tr>
              <a:tr h="272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80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>
                          <a:effectLst/>
                        </a:rPr>
                        <a:t>75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18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34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47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effectLst/>
                        </a:rPr>
                        <a:t>340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87853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259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Ocean Waves">
            <a:extLst>
              <a:ext uri="{FF2B5EF4-FFF2-40B4-BE49-F238E27FC236}">
                <a16:creationId xmlns:a16="http://schemas.microsoft.com/office/drawing/2014/main" id="{9A58ABB8-9F12-87E2-480B-360644D573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610399-FD3D-6FBE-7C9B-671AA8212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Crashing &amp; recovering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7DA7B-4F46-8831-07E8-98E4C70E1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MapReduce Fault </a:t>
            </a:r>
            <a:r>
              <a:rPr lang="en-US" dirty="0" err="1">
                <a:solidFill>
                  <a:srgbClr val="FFFFFF"/>
                </a:solidFill>
              </a:rPr>
              <a:t>Tolerence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836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88BDA-054E-BDC3-0001-8EBCA5B0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mapper failed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FC501F8-DCCD-5267-D7E8-DA7B7ECF5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635" y="2221992"/>
            <a:ext cx="4863281" cy="2906107"/>
          </a:xfrm>
          <a:prstGeom prst="rect">
            <a:avLst/>
          </a:prstGeom>
        </p:spPr>
      </p:pic>
      <p:pic>
        <p:nvPicPr>
          <p:cNvPr id="8" name="Picture 7" descr="A close-up of a number&#10;&#10;AI-generated content may be incorrect.">
            <a:extLst>
              <a:ext uri="{FF2B5EF4-FFF2-40B4-BE49-F238E27FC236}">
                <a16:creationId xmlns:a16="http://schemas.microsoft.com/office/drawing/2014/main" id="{6EC79BB0-53BC-EF64-81B1-4197C077D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513" y="2397546"/>
            <a:ext cx="6085868" cy="851666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B1F4A1-BB7E-434C-DDD4-A4D0CE869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513" y="3887582"/>
            <a:ext cx="6085868" cy="111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56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553E-F57D-2BF8-9F7D-1ACA4070B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 Reason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5863A2-1D27-8ECC-AE0C-5375CB4AE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594" y="2221992"/>
            <a:ext cx="6487346" cy="306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73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901848-AAB1-5A8D-704B-F21A75E4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 to fix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183B8E4-6D7D-DBAA-388A-8E2447E3B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373" y="723901"/>
            <a:ext cx="6577753" cy="541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18A6B6-D075-CA28-87BB-A46E7C517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816" y="4147409"/>
            <a:ext cx="7772400" cy="88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0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148</Words>
  <Application>Microsoft Macintosh PowerPoint</Application>
  <PresentationFormat>Widescreen</PresentationFormat>
  <Paragraphs>60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Calisto MT</vt:lpstr>
      <vt:lpstr>Univers Condensed</vt:lpstr>
      <vt:lpstr>ChronicleVTI</vt:lpstr>
      <vt:lpstr>Midterm Mastery</vt:lpstr>
      <vt:lpstr>What I have enjoyed learning so far</vt:lpstr>
      <vt:lpstr>CAP theorem explains master-slave inconsistency</vt:lpstr>
      <vt:lpstr>Mapreduce: from paper to practice</vt:lpstr>
      <vt:lpstr>Mapreduce: from paper to practice</vt:lpstr>
      <vt:lpstr>Auto-Scaling implementation </vt:lpstr>
      <vt:lpstr>Crashing &amp; recovering</vt:lpstr>
      <vt:lpstr>Partial mapper failed</vt:lpstr>
      <vt:lpstr>Fault Reason</vt:lpstr>
      <vt:lpstr>How to fix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Wenshuang Zhou</dc:creator>
  <cp:lastModifiedBy>Wenshuang Zhou</cp:lastModifiedBy>
  <cp:revision>1</cp:revision>
  <dcterms:created xsi:type="dcterms:W3CDTF">2025-10-16T23:04:11Z</dcterms:created>
  <dcterms:modified xsi:type="dcterms:W3CDTF">2025-10-17T19:11:44Z</dcterms:modified>
</cp:coreProperties>
</file>